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embeddedFontLst>
    <p:embeddedFont>
      <p:font typeface="Inter"/>
      <p:bold r:id="rId15"/>
    </p:embeddedFont>
    <p:embeddedFont>
      <p:font typeface="Outfit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2000" y="5356621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463278"/>
            <a:ext cx="762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SECURITY IS A TEAM 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68078"/>
            <a:ext cx="6500812" cy="22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Phishing Awareness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259460"/>
            <a:ext cx="5810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The most critical layer of our defense is you. Learn to spot the signs before you click.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6475" y="2926109"/>
            <a:ext cx="19050" cy="24916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9144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Why They Target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052762"/>
            <a:ext cx="5893593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2563EB"/>
                </a:solidFill>
                <a:latin typeface="Inter"/>
              </a:rPr>
              <a:t>79%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348162"/>
            <a:ext cx="618827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Breach 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833937"/>
            <a:ext cx="481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Most attacks don't hack systems; they hack people through targeted phishing.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052762"/>
            <a:ext cx="5476875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DC2626"/>
                </a:solidFill>
                <a:latin typeface="Inter"/>
              </a:rPr>
              <a:t>$4.45M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4348162"/>
            <a:ext cx="54768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Average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4833937"/>
            <a:ext cx="481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Global average financial impact of a single organizational data breach.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609600"/>
            <a:ext cx="127635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Outfit"/>
              </a:rPr>
              <a:t>How an Attack Unfolds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85750" y="1295400"/>
            <a:ext cx="12763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64748B"/>
                </a:solidFill>
                <a:latin typeface="Inter"/>
              </a:rPr>
              <a:t>Attackers use familiar patterns to gain trust.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914650"/>
            <a:ext cx="9906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533650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2533650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2653605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0" y="2653605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250" y="2762250"/>
            <a:ext cx="3810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4850" y="2762250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1400" y="2882205"/>
            <a:ext cx="2667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0800" y="2882205"/>
            <a:ext cx="3429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0903" y="3524250"/>
            <a:ext cx="153769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1.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62" y="3924300"/>
            <a:ext cx="26193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Gathering your details from social media or company sites.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654" y="3524250"/>
            <a:ext cx="152519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2. The 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7562" y="3924300"/>
            <a:ext cx="26193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Sending a message that demands urgent attention.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0888" y="3644205"/>
            <a:ext cx="178772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3. The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5062" y="4044255"/>
            <a:ext cx="2619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You click a link or download an attachment.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369" y="3644205"/>
            <a:ext cx="208776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4. Compromise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562" y="4044255"/>
            <a:ext cx="2619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Attackers gain access using your credentials.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75495"/>
            <a:ext cx="29337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924300" y="2775495"/>
            <a:ext cx="29337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175670"/>
            <a:ext cx="29337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24300" y="4175670"/>
            <a:ext cx="29337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510605"/>
            <a:ext cx="762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IT'S NOT JUST EMAIL ANYMORE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815405"/>
            <a:ext cx="8001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Outfit"/>
              </a:rPr>
              <a:t>Where They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013620"/>
            <a:ext cx="322540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Outfit"/>
              </a:rPr>
              <a:t>Spear Phishing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327945"/>
            <a:ext cx="25527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Emails customized with your name and role.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2425" y="3013620"/>
            <a:ext cx="322540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Outfit"/>
              </a:rPr>
              <a:t>Whaling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2425" y="3327945"/>
            <a:ext cx="25527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Targeting executives for big payouts.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413795"/>
            <a:ext cx="322540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Outfit"/>
              </a:rPr>
              <a:t>Smishing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4728120"/>
            <a:ext cx="25527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Fake delivery updates or alerts via SMS 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2425" y="4413795"/>
            <a:ext cx="322540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Outfit"/>
              </a:rPr>
              <a:t>Vishing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2425" y="4728120"/>
            <a:ext cx="25527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Phone calls pretending to be IT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43162"/>
            <a:ext cx="3352800" cy="3152775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728912"/>
            <a:ext cx="3352800" cy="2581275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443162"/>
            <a:ext cx="3352800" cy="3152775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2900362"/>
            <a:ext cx="4000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825" y="3186112"/>
            <a:ext cx="5143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725" y="2900362"/>
            <a:ext cx="2857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609600"/>
            <a:ext cx="127635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Outfit"/>
              </a:rPr>
              <a:t>Trust Your Instincts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187" y="3586162"/>
            <a:ext cx="34004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Outfit"/>
              </a:rPr>
              <a:t>Manufactured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367212"/>
            <a:ext cx="32385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If it demands immediate action, pause. It's a classic pressure tactic.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5787" y="3871912"/>
            <a:ext cx="340042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Outfit"/>
              </a:rPr>
              <a:t>Mismatched Sender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750" y="4338637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 name says "HR," but the address says "@gmail.com."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3387" y="3586162"/>
            <a:ext cx="34004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Outfit"/>
              </a:rPr>
              <a:t>Suspicious Destinations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4350" y="4367212"/>
            <a:ext cx="32385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Hover over links before clicking. Does the URL look right?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768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8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2824162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690937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4557712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0" y="1766887"/>
            <a:ext cx="68580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Spotting Fake Websites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3575" y="2795587"/>
            <a:ext cx="6448425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The Subtle Typo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3100" y="3157537"/>
            <a:ext cx="64389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"rnicrosoft.com" instead of "microsoft.com". Look closely.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3575" y="3662362"/>
            <a:ext cx="6448425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Missing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3100" y="4024312"/>
            <a:ext cx="64389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No HTTPS padlock icon on a login page is a red flag.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3575" y="4529137"/>
            <a:ext cx="6448425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Things Look "Off"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3100" y="4891087"/>
            <a:ext cx="64389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Low-resolution logos, broken layouts, or weird grammar.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943100"/>
            <a:ext cx="2438400" cy="430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505200" y="1943100"/>
            <a:ext cx="2438400" cy="430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943100"/>
            <a:ext cx="2438400" cy="430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91600" y="1943100"/>
            <a:ext cx="2438400" cy="430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1943100"/>
            <a:ext cx="2438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05200" y="1943100"/>
            <a:ext cx="2438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1943100"/>
            <a:ext cx="2438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1600" y="1943100"/>
            <a:ext cx="2438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PLAYING ON EMOTIONS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144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Social Engineering Tactics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362200"/>
            <a:ext cx="202025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Outfit"/>
              </a:rPr>
              <a:t>The Helpful Fake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143250"/>
            <a:ext cx="19240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"IT here, we noticed an issue and need your password to fix it."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2362200"/>
            <a:ext cx="24003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Outfit"/>
              </a:rPr>
              <a:t>The Bait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0" y="2828925"/>
            <a:ext cx="19240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An abandoned USB drive labeled "Executive Salaries Q4."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2362200"/>
            <a:ext cx="24003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Outfit"/>
              </a:rPr>
              <a:t>The Trade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2828925"/>
            <a:ext cx="1924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"Fill out this survey with your login for a free coffee card."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6400" y="2362200"/>
            <a:ext cx="24003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Outfit"/>
              </a:rPr>
              <a:t>The Piggyback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2828925"/>
            <a:ext cx="1924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Someone carrying coffees asks you to hold the secure door.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556420"/>
            <a:ext cx="5926633" cy="135255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213770"/>
            <a:ext cx="5926633" cy="135255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556420"/>
            <a:ext cx="57150" cy="1352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213770"/>
            <a:ext cx="57150" cy="1352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1291530"/>
            <a:ext cx="740829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A COMMON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596330"/>
            <a:ext cx="7778706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Outfit"/>
              </a:rPr>
              <a:t>Business Email Compromise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2861220"/>
            <a:ext cx="690359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Outfit"/>
              </a:rPr>
              <a:t>The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204120"/>
            <a:ext cx="535513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Inter"/>
              </a:rPr>
              <a:t>You get an email from the CEO: "I'm in a meeting. Need you to wire funds to this new vendor ASAP."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4518570"/>
            <a:ext cx="690359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2400E"/>
                </a:solidFill>
                <a:latin typeface="Outfit"/>
              </a:rPr>
              <a:t>The Reality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861470"/>
            <a:ext cx="535513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Inter"/>
              </a:rPr>
              <a:t>It's a spoofed email designed to bypass normal payment approvals by using authority.</a:t>
            </a:r>
          </a:p>
        </p:txBody>
      </p:sp>
      <p:pic>
        <p:nvPicPr>
          <p:cNvPr id="14" name="Business Email Compromise - replacement image" descr="Concerned employee looking at a laptop in an 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0"/>
            <a:ext cx="50045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57500"/>
            <a:ext cx="3352800" cy="26860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857500"/>
            <a:ext cx="3352800" cy="26860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7500"/>
            <a:ext cx="3352800" cy="26860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3324225"/>
            <a:ext cx="6858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3324225"/>
            <a:ext cx="6858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700" y="3324225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900" y="3514725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550" y="3514725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3514725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285750" y="609600"/>
            <a:ext cx="127635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Outfit"/>
              </a:rPr>
              <a:t>What Happens When We Miss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85750" y="1295400"/>
            <a:ext cx="12763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64748B"/>
                </a:solidFill>
                <a:latin typeface="Inter"/>
              </a:rPr>
              <a:t>A single click can have wide-ranging consequences.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76" y="4238625"/>
            <a:ext cx="357544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Lost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806" y="4676775"/>
            <a:ext cx="3405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Client data exposed, leading to damaged relationships.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8276" y="4238625"/>
            <a:ext cx="357544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Financial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3406" y="4676775"/>
            <a:ext cx="3405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Direct loss from fraud or ransomware demands.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5876" y="4238625"/>
            <a:ext cx="357544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Operational Halt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1006" y="4676775"/>
            <a:ext cx="3405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Systems locked down, stopping daily work for everyone.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8882" y="0"/>
            <a:ext cx="6373117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18882" cy="6858000"/>
          </a:xfrm>
          <a:prstGeom prst="rect">
            <a:avLst/>
          </a:prstGeom>
          <a:solidFill>
            <a:srgbClr val="1E293B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18882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18882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0882" y="1514475"/>
            <a:ext cx="561111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Inter"/>
              </a:rPr>
              <a:t>WE'RE IN THIS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0882" y="1819275"/>
            <a:ext cx="5611117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Systems Helping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0882" y="2847975"/>
            <a:ext cx="561111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MFA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0882" y="3209925"/>
            <a:ext cx="561111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That extra phone tap protects you if a password is stolen.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0882" y="3714750"/>
            <a:ext cx="561111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Warning Banners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0882" y="4076700"/>
            <a:ext cx="561111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"External Sender" tags remind you to be extra cautious.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0882" y="4581525"/>
            <a:ext cx="561111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Spam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0882" y="4943475"/>
            <a:ext cx="494436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They catch most of it, but the most clever ones slip through to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9750" y="2190750"/>
            <a:ext cx="8572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66950" y="3486150"/>
            <a:ext cx="8115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24150" y="4781550"/>
            <a:ext cx="76581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38350" y="241935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95550" y="371475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52750" y="501015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285750" y="1009650"/>
            <a:ext cx="127635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Outfit"/>
              </a:rPr>
              <a:t>Your Personal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5475" y="2419350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2675" y="3714750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9875" y="5010150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750" y="2438400"/>
            <a:ext cx="6250781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Pause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750" y="2809875"/>
            <a:ext cx="5953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Take a breath. Are they rushing you? Panic leads to clicks.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9950" y="3733800"/>
            <a:ext cx="653831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950" y="4105275"/>
            <a:ext cx="6226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Don't use their links. Go directly to the site or call the sender.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150" y="5029200"/>
            <a:ext cx="732591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150" y="5400675"/>
            <a:ext cx="6977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Does it make sense that the CEO needs iTunes gift cards right now?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38300"/>
            <a:ext cx="5143500" cy="46101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1638300"/>
            <a:ext cx="5143500" cy="46101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1525" y="1647825"/>
            <a:ext cx="5124450" cy="9048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1525" y="5695950"/>
            <a:ext cx="5124450" cy="5429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96025" y="1647825"/>
            <a:ext cx="5124450" cy="8286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96025" y="5695950"/>
            <a:ext cx="5124450" cy="5429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1525" y="2543175"/>
            <a:ext cx="5124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96025" y="2466975"/>
            <a:ext cx="5124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587216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687" y="5872162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285750" y="609600"/>
            <a:ext cx="127635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Outfit"/>
              </a:rPr>
              <a:t>Gut Check: Real or Fake?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1876425"/>
            <a:ext cx="5834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ospace"/>
              </a:rPr>
              <a:t>From:</a:t>
            </a:r>
            <a:r>
              <a:rPr sz="1200" b="0" i="0" u="none">
                <a:solidFill>
                  <a:srgbClr val="0F172A"/>
                </a:solidFill>
                <a:latin typeface="monospace"/>
              </a:rPr>
              <a:t> IT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2133600"/>
            <a:ext cx="5834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ospace"/>
              </a:rPr>
              <a:t>Subject:</a:t>
            </a:r>
            <a:r>
              <a:rPr sz="1200" b="0" i="0" u="none">
                <a:solidFill>
                  <a:srgbClr val="0F172A"/>
                </a:solidFill>
                <a:latin typeface="monospace"/>
              </a:rPr>
              <a:t> Scheduled System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2857500"/>
            <a:ext cx="4610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"Please note the system will be offline for 2 hours this Sunday. No action required."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222" y="5848350"/>
            <a:ext cx="6045755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Outfit"/>
              </a:rPr>
              <a:t>Legitimate Comm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1876425"/>
            <a:ext cx="5667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ospace"/>
              </a:rPr>
              <a:t>From:</a:t>
            </a:r>
            <a:r>
              <a:rPr sz="1200" b="0" i="0" u="none">
                <a:solidFill>
                  <a:srgbClr val="0F172A"/>
                </a:solidFill>
                <a:latin typeface="monospace"/>
              </a:rPr>
              <a:t> IT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2057400"/>
            <a:ext cx="5667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monospace"/>
              </a:rPr>
              <a:t>Subject:</a:t>
            </a:r>
            <a:r>
              <a:rPr sz="1200" b="0" i="0" u="none">
                <a:solidFill>
                  <a:srgbClr val="DC2626"/>
                </a:solidFill>
                <a:latin typeface="monospace"/>
              </a:rPr>
              <a:t> URGENT: Password Expiry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2781300"/>
            <a:ext cx="4610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"Your password expires in 1 hour. Click here to reset immediately to avoid lockout."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8722" y="5848350"/>
            <a:ext cx="6045755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Outfit"/>
              </a:rPr>
              <a:t>Classic Phish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33712"/>
            <a:ext cx="2971800" cy="2333625"/>
          </a:xfrm>
          <a:prstGeom prst="roundRect">
            <a:avLst>
              <a:gd name="adj" fmla="val 6530"/>
            </a:avLst>
          </a:prstGeom>
          <a:solidFill>
            <a:srgbClr val="FEE2E2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10100" y="3033712"/>
            <a:ext cx="2971800" cy="2333625"/>
          </a:xfrm>
          <a:prstGeom prst="roundRect">
            <a:avLst>
              <a:gd name="adj" fmla="val 653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58200" y="3033712"/>
            <a:ext cx="2971800" cy="2333625"/>
          </a:xfrm>
          <a:prstGeom prst="roundRect">
            <a:avLst>
              <a:gd name="adj" fmla="val 6530"/>
            </a:avLst>
          </a:prstGeom>
          <a:solidFill>
            <a:srgbClr val="FEF3C7"/>
          </a:solidFill>
          <a:ln w="1905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048125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404812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3433762"/>
            <a:ext cx="47625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50" y="343376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0" y="3433762"/>
            <a:ext cx="3810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285750" y="609600"/>
            <a:ext cx="127635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Outfit"/>
              </a:rPr>
              <a:t>It Happens. What 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85750" y="1295400"/>
            <a:ext cx="12763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64748B"/>
                </a:solidFill>
                <a:latin typeface="Inter"/>
              </a:rPr>
              <a:t>If you clicked, speed matters more than embarrassment.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967162"/>
            <a:ext cx="28503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91B1B"/>
                </a:solidFill>
                <a:latin typeface="Outfit"/>
              </a:rPr>
              <a:t>Disconnect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4367212"/>
            <a:ext cx="2266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Inter"/>
              </a:rPr>
              <a:t>Turn off Wi-Fi or unplug the cable to stop the spread.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150" y="3967162"/>
            <a:ext cx="28503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Outfit"/>
              </a:rPr>
              <a:t>Speak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150" y="4367212"/>
            <a:ext cx="2266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3A8A"/>
                </a:solidFill>
                <a:latin typeface="Inter"/>
              </a:rPr>
              <a:t>Call IT immediately. You won't get in trouble for reporting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0" y="3967162"/>
            <a:ext cx="28503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2400E"/>
                </a:solidFill>
                <a:latin typeface="Outfit"/>
              </a:rPr>
              <a:t>Change Passwords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0" y="4367212"/>
            <a:ext cx="2266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2400E"/>
                </a:solidFill>
                <a:latin typeface="Inter"/>
              </a:rPr>
              <a:t>Reset credentials from a different, clean device if possible.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QUESTION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Gut check: real or fake?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Choose one answer before moving to the answer-and-explanation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23444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469880" cy="8686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You receive: “Your account will be locked in 10 minutes. Click here to verify your password.” What should you 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83280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A. Click immediately so you do not lose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05072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B. Reply with your password to confirm your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26864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00016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C. Do not click; verify through the official website or IT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48655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21807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D. Forward it to friends to ask if it is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37960"/>
            <a:ext cx="10698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FFCD56"/>
                </a:solidFill>
                <a:latin typeface="Aptos"/>
              </a:rPr>
              <a:t>SELF-CHECK: Choose your answer, then advance to the next slide to see the correct answer.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ANSWER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Correct answer: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Review the reason, then continue to the next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143000"/>
          </a:xfrm>
          <a:prstGeom prst="roundRect">
            <a:avLst/>
          </a:prstGeom>
          <a:solidFill>
            <a:srgbClr val="1B3A2F"/>
          </a:solidFill>
          <a:ln>
            <a:solidFill>
              <a:srgbClr val="6E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1"/>
            <a:ext cx="10149840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000" b="1">
                <a:solidFill>
                  <a:srgbClr val="6EDC91"/>
                </a:solidFill>
                <a:latin typeface="Aptos"/>
              </a:rPr>
              <a:t>C. Do not click; verify through the official website or IT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698480" cy="164592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100584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FFCD56"/>
                </a:solidFill>
                <a:latin typeface="Aptos"/>
              </a:rPr>
              <a:t>WHY THIS IS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13632"/>
            <a:ext cx="10058400" cy="8229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Urgent threats and password-reset links are common phishing signs. Open the official site yourself or contact IT using a trusted channel.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800" b="1">
                <a:solidFill>
                  <a:srgbClr val="6EDC91"/>
                </a:solidFill>
                <a:latin typeface="Aptos"/>
              </a:rPr>
              <a:t>Remember: pause • verify •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QUESTION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Gut check: real or fake?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Choose one answer before moving to the answer-and-explanation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23444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469880" cy="8686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Which sender address is the strongest warning sign?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83280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A. A known company domain that matches the sender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05072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B. hr-company@gmail.com claiming to be your company’s HR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26864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00016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C. An expected message you verified with the sender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48655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21807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D. A message you opened from the official company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37960"/>
            <a:ext cx="10698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FFCD56"/>
                </a:solidFill>
                <a:latin typeface="Aptos"/>
              </a:rPr>
              <a:t>SELF-CHECK: Choose your answer, then advance to the next slide to see the correct answer.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ANSWER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Correct answer: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Review the reason, then continue to the next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143000"/>
          </a:xfrm>
          <a:prstGeom prst="roundRect">
            <a:avLst/>
          </a:prstGeom>
          <a:solidFill>
            <a:srgbClr val="1B3A2F"/>
          </a:solidFill>
          <a:ln>
            <a:solidFill>
              <a:srgbClr val="6E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1"/>
            <a:ext cx="10149840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000" b="1">
                <a:solidFill>
                  <a:srgbClr val="6EDC91"/>
                </a:solidFill>
                <a:latin typeface="Aptos"/>
              </a:rPr>
              <a:t>B. hr-company@gmail.com claiming to be your company’s HR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698480" cy="164592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100584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FFCD56"/>
                </a:solidFill>
                <a:latin typeface="Aptos"/>
              </a:rPr>
              <a:t>WHY THIS IS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13632"/>
            <a:ext cx="10058400" cy="8229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A free email address that does not match the organization’s real domain can indicate impersonation. Check the full address, not just the display name.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800" b="1">
                <a:solidFill>
                  <a:srgbClr val="6EDC91"/>
                </a:solidFill>
                <a:latin typeface="Aptos"/>
              </a:rPr>
              <a:t>Remember: pause • verify • 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QUESTION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Gut check: real or fake?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Choose one answer before moving to the answer-and-explanation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23444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469880" cy="8686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A website has HTTPS and a padlock. Does that guarantee it is genuine?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83280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A. Yes, every HTTPS website is safe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05072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B. Yes, if the logo looks correct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26864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00016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C. No; inspect the domain and reach the site through a trusted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48655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21807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D. No website can ever be trusted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37960"/>
            <a:ext cx="10698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FFCD56"/>
                </a:solidFill>
                <a:latin typeface="Aptos"/>
              </a:rPr>
              <a:t>SELF-CHECK: Choose your answer, then advance to the next slide to see the correct answer.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ANSWER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Correct answer: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Review the reason, then continue to the next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143000"/>
          </a:xfrm>
          <a:prstGeom prst="roundRect">
            <a:avLst/>
          </a:prstGeom>
          <a:solidFill>
            <a:srgbClr val="1B3A2F"/>
          </a:solidFill>
          <a:ln>
            <a:solidFill>
              <a:srgbClr val="6E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1"/>
            <a:ext cx="10149840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000" b="1">
                <a:solidFill>
                  <a:srgbClr val="6EDC91"/>
                </a:solidFill>
                <a:latin typeface="Aptos"/>
              </a:rPr>
              <a:t>C. No; inspect the domain and reach the site through a trusted 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698480" cy="164592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100584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FFCD56"/>
                </a:solidFill>
                <a:latin typeface="Aptos"/>
              </a:rPr>
              <a:t>WHY THIS IS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13632"/>
            <a:ext cx="10058400" cy="8229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HTTPS encrypts the connection, but phishing sites can also use HTTPS. Check the exact domain and avoid login links from unexpected messages.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800" b="1">
                <a:solidFill>
                  <a:srgbClr val="6EDC91"/>
                </a:solidFill>
                <a:latin typeface="Aptos"/>
              </a:rPr>
              <a:t>Remember: pause • verify • report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QUESTION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Gut check: real or fake?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Choose one answer before moving to the answer-and-explanation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23444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469880" cy="8686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Someone claiming to be the CEO asks you to urgently pay a new vendor. What is the safest response?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83280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A. Pay immediately because the CEO requested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05072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B. Verify the request through a separate trusted channel and follow payment procedures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26864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00016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C. Reply asking them to send their password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48655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21807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D. Ignore all payment requests forever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37960"/>
            <a:ext cx="10698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FFCD56"/>
                </a:solidFill>
                <a:latin typeface="Aptos"/>
              </a:rPr>
              <a:t>SELF-CHECK: Choose your answer, then advance to the next slide to see the correct answer.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ANSWER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Correct answer: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Review the reason, then continue to the next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143000"/>
          </a:xfrm>
          <a:prstGeom prst="roundRect">
            <a:avLst/>
          </a:prstGeom>
          <a:solidFill>
            <a:srgbClr val="1B3A2F"/>
          </a:solidFill>
          <a:ln>
            <a:solidFill>
              <a:srgbClr val="6E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1"/>
            <a:ext cx="10149840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000" b="1">
                <a:solidFill>
                  <a:srgbClr val="6EDC91"/>
                </a:solidFill>
                <a:latin typeface="Aptos"/>
              </a:rPr>
              <a:t>B. Verify the request through a separate trusted channel and follow payment procedures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698480" cy="164592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100584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FFCD56"/>
                </a:solidFill>
                <a:latin typeface="Aptos"/>
              </a:rPr>
              <a:t>WHY THIS IS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13632"/>
            <a:ext cx="10058400" cy="8229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This may be business email compromise. Independently confirm the request and follow normal approval steps before transferring money.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800" b="1">
                <a:solidFill>
                  <a:srgbClr val="6EDC91"/>
                </a:solidFill>
                <a:latin typeface="Aptos"/>
              </a:rPr>
              <a:t>Remember: pause • verify • report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QUESTION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Gut check: real or fake?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Choose one answer before moving to the answer-and-explanation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23444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469880" cy="8686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You clicked a suspicious link and entered your password. What should you do first?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83280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A. Hide it and hope nothing happens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05072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B. Report it promptly and change the password from a clean, trusted 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26864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00016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C. Reuse the same password everywhere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48655"/>
            <a:ext cx="10652760" cy="502920"/>
          </a:xfrm>
          <a:prstGeom prst="roundRect">
            <a:avLst/>
          </a:prstGeom>
          <a:solidFill>
            <a:srgbClr val="243145"/>
          </a:solidFill>
          <a:ln>
            <a:solidFill>
              <a:srgbClr val="24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21807"/>
            <a:ext cx="102870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D. Delete the message and take no further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37960"/>
            <a:ext cx="10698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FFCD56"/>
                </a:solidFill>
                <a:latin typeface="Aptos"/>
              </a:rPr>
              <a:t>SELF-CHECK: Choose your answer, then advance to the next slide to see the correct answer.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KNOWLEDGE CHECK • ANSWER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Correct answer: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Review the reason, then continue to the next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143000"/>
          </a:xfrm>
          <a:prstGeom prst="roundRect">
            <a:avLst/>
          </a:prstGeom>
          <a:solidFill>
            <a:srgbClr val="1B3A2F"/>
          </a:solidFill>
          <a:ln>
            <a:solidFill>
              <a:srgbClr val="6E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1"/>
            <a:ext cx="10149840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000" b="1">
                <a:solidFill>
                  <a:srgbClr val="6EDC91"/>
                </a:solidFill>
                <a:latin typeface="Aptos"/>
              </a:rPr>
              <a:t>B. Report it promptly and change the password from a clean, trusted 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698480" cy="1645920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100584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FFCD56"/>
                </a:solidFill>
                <a:latin typeface="Aptos"/>
              </a:rPr>
              <a:t>WHY THIS IS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13632"/>
            <a:ext cx="10058400" cy="8229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Fast reporting helps limit damage. Change the exposed password from a trusted device and follow your organization’s incident-response 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800" b="1">
                <a:solidFill>
                  <a:srgbClr val="6EDC91"/>
                </a:solidFill>
                <a:latin typeface="Aptos"/>
              </a:rPr>
              <a:t>Remember: pause • verify • report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6EDC91"/>
                </a:solidFill>
                <a:latin typeface="Aptos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Pause. Verify.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BEC8D7"/>
                </a:solidFill>
                <a:latin typeface="Aptos"/>
              </a:rPr>
              <a:t>A few careful seconds can prevent a costly compromise.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52760" cy="713232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11679"/>
            <a:ext cx="14173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1">
                <a:solidFill>
                  <a:srgbClr val="6EDC91"/>
                </a:solidFill>
                <a:latin typeface="Aptos"/>
              </a:rPr>
              <a:t>PAUSE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993391"/>
            <a:ext cx="864108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Be cautious when a message creates fear, urgency, curiosity, or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15768"/>
            <a:ext cx="10652760" cy="713232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52927"/>
            <a:ext cx="14173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1">
                <a:solidFill>
                  <a:srgbClr val="6EDC91"/>
                </a:solidFill>
                <a:latin typeface="Aptos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834639"/>
            <a:ext cx="864108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Inspect the full sender address and exact website domain. HTTPS alone is not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57015"/>
            <a:ext cx="10652760" cy="713232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694176"/>
            <a:ext cx="14173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1">
                <a:solidFill>
                  <a:srgbClr val="6EDC91"/>
                </a:solidFill>
                <a:latin typeface="Aptos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675887"/>
            <a:ext cx="864108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Use a known phone number, official app, or website—not the message’s link or number.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98264"/>
            <a:ext cx="10652760" cy="713232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35424"/>
            <a:ext cx="14173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1">
                <a:solidFill>
                  <a:srgbClr val="6EDC91"/>
                </a:solidFill>
                <a:latin typeface="Aptos"/>
              </a:rPr>
              <a:t>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517136"/>
            <a:ext cx="864108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Use unique passwords and multi-factor authentication. Never share passwords or one-time codes.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39512"/>
            <a:ext cx="10652760" cy="713232"/>
          </a:xfrm>
          <a:prstGeom prst="roundRect">
            <a:avLst/>
          </a:prstGeom>
          <a:solidFill>
            <a:srgbClr val="1F293B"/>
          </a:solidFill>
          <a:ln>
            <a:solidFill>
              <a:srgbClr val="1F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376672"/>
            <a:ext cx="14173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1">
                <a:solidFill>
                  <a:srgbClr val="6EDC91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358383"/>
            <a:ext cx="864108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Report suspicious messages quickly. If you clicked or shared details, tell IT/support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55080"/>
            <a:ext cx="1065276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FFCD56"/>
                </a:solidFill>
                <a:latin typeface="Aptos"/>
              </a:rPr>
              <a:t>SECURITY IS A TEAM SPORT — THINK BEFORE YOU CLICK.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657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Inter</vt:lpstr>
      <vt:lpstr>Outfit</vt:lpstr>
      <vt:lpstr>Calibri</vt:lpstr>
      <vt:lpstr>monospace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Ranjan Prasad</cp:lastModifiedBy>
  <cp:revision>2</cp:revision>
  <dcterms:created xsi:type="dcterms:W3CDTF">2013-01-27T09:14:16Z</dcterms:created>
  <dcterms:modified xsi:type="dcterms:W3CDTF">2026-10-17T06:31:43Z</dcterms:modified>
  <cp:category/>
</cp:coreProperties>
</file>